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DM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DMSans-regular.fntdata"/><Relationship Id="rId25" Type="http://schemas.openxmlformats.org/officeDocument/2006/relationships/slide" Target="slides/slide20.xml"/><Relationship Id="rId28" Type="http://schemas.openxmlformats.org/officeDocument/2006/relationships/font" Target="fonts/DMSans-italic.fntdata"/><Relationship Id="rId27" Type="http://schemas.openxmlformats.org/officeDocument/2006/relationships/font" Target="fonts/DMSa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f24172381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f24172381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f903b244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f903b244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f24172381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f24172381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f24172381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f24172381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f903b244e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f903b244e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f266468e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f266468e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cb4d64c7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cb4d64c7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f266468e8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f266468e8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f266468e8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f266468e8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f2bc20c60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f2bc20c60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f266468e8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f266468e8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cb4d64c7d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cb4d64c7d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f2bc20c60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f2bc20c60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cb4d64c7d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cb4d64c7d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f2bc20c60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f2bc20c60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f2bc20c60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f2bc20c60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f2bc20c60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f2bc20c60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f2bc20c60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f2bc20c60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f1a1597b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f1a1597b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3626725"/>
            <a:ext cx="9144000" cy="1399200"/>
          </a:xfrm>
          <a:prstGeom prst="rect">
            <a:avLst/>
          </a:prstGeom>
          <a:solidFill>
            <a:srgbClr val="69BCC1"/>
          </a:solidFill>
          <a:ln>
            <a:noFill/>
          </a:ln>
          <a:effectLst>
            <a:outerShdw blurRad="57150" rotWithShape="0" algn="bl" dir="5400000" dist="19050">
              <a:srgbClr val="000000">
                <a:alpha val="50000"/>
              </a:srgbClr>
            </a:outerShdw>
          </a:effectLst>
        </p:spPr>
        <p:txBody>
          <a:bodyPr anchorCtr="0" anchor="ctr" bIns="100600" lIns="201250" spcFirstLastPara="1" rIns="201250" wrap="square" tIns="100600">
            <a:noAutofit/>
          </a:bodyPr>
          <a:lstStyle/>
          <a:p>
            <a:pPr indent="0" lvl="0" marL="0" marR="0" rtl="0" algn="ctr">
              <a:lnSpc>
                <a:spcPct val="100000"/>
              </a:lnSpc>
              <a:spcBef>
                <a:spcPts val="0"/>
              </a:spcBef>
              <a:spcAft>
                <a:spcPts val="0"/>
              </a:spcAft>
              <a:buClr>
                <a:srgbClr val="000000"/>
              </a:buClr>
              <a:buSzPts val="3100"/>
              <a:buFont typeface="Arial"/>
              <a:buNone/>
            </a:pPr>
            <a:r>
              <a:t/>
            </a:r>
            <a:endParaRPr b="0" i="0" sz="3100" u="none" cap="none" strike="noStrike">
              <a:solidFill>
                <a:srgbClr val="FFFFFF"/>
              </a:solidFill>
              <a:latin typeface="Arial"/>
              <a:ea typeface="Arial"/>
              <a:cs typeface="Arial"/>
              <a:sym typeface="Arial"/>
            </a:endParaRPr>
          </a:p>
        </p:txBody>
      </p:sp>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Clr>
                <a:srgbClr val="0A0049"/>
              </a:buClr>
              <a:buSzPts val="5200"/>
              <a:buNone/>
              <a:defRPr sz="5200">
                <a:solidFill>
                  <a:srgbClr val="0A0049"/>
                </a:solidFill>
              </a:defRPr>
            </a:lvl2pPr>
            <a:lvl3pPr lvl="2" algn="ctr">
              <a:spcBef>
                <a:spcPts val="0"/>
              </a:spcBef>
              <a:spcAft>
                <a:spcPts val="0"/>
              </a:spcAft>
              <a:buClr>
                <a:srgbClr val="0A0049"/>
              </a:buClr>
              <a:buSzPts val="5200"/>
              <a:buNone/>
              <a:defRPr sz="5200">
                <a:solidFill>
                  <a:srgbClr val="0A0049"/>
                </a:solidFill>
              </a:defRPr>
            </a:lvl3pPr>
            <a:lvl4pPr lvl="3" algn="ctr">
              <a:spcBef>
                <a:spcPts val="0"/>
              </a:spcBef>
              <a:spcAft>
                <a:spcPts val="0"/>
              </a:spcAft>
              <a:buClr>
                <a:srgbClr val="0A0049"/>
              </a:buClr>
              <a:buSzPts val="5200"/>
              <a:buNone/>
              <a:defRPr sz="5200">
                <a:solidFill>
                  <a:srgbClr val="0A0049"/>
                </a:solidFill>
              </a:defRPr>
            </a:lvl4pPr>
            <a:lvl5pPr lvl="4" algn="ctr">
              <a:spcBef>
                <a:spcPts val="0"/>
              </a:spcBef>
              <a:spcAft>
                <a:spcPts val="0"/>
              </a:spcAft>
              <a:buClr>
                <a:srgbClr val="0A0049"/>
              </a:buClr>
              <a:buSzPts val="5200"/>
              <a:buNone/>
              <a:defRPr sz="5200">
                <a:solidFill>
                  <a:srgbClr val="0A0049"/>
                </a:solidFill>
              </a:defRPr>
            </a:lvl5pPr>
            <a:lvl6pPr lvl="5" algn="ctr">
              <a:spcBef>
                <a:spcPts val="0"/>
              </a:spcBef>
              <a:spcAft>
                <a:spcPts val="0"/>
              </a:spcAft>
              <a:buClr>
                <a:srgbClr val="0A0049"/>
              </a:buClr>
              <a:buSzPts val="5200"/>
              <a:buNone/>
              <a:defRPr sz="5200">
                <a:solidFill>
                  <a:srgbClr val="0A0049"/>
                </a:solidFill>
              </a:defRPr>
            </a:lvl6pPr>
            <a:lvl7pPr lvl="6" algn="ctr">
              <a:spcBef>
                <a:spcPts val="0"/>
              </a:spcBef>
              <a:spcAft>
                <a:spcPts val="0"/>
              </a:spcAft>
              <a:buClr>
                <a:srgbClr val="0A0049"/>
              </a:buClr>
              <a:buSzPts val="5200"/>
              <a:buNone/>
              <a:defRPr sz="5200">
                <a:solidFill>
                  <a:srgbClr val="0A0049"/>
                </a:solidFill>
              </a:defRPr>
            </a:lvl7pPr>
            <a:lvl8pPr lvl="7" algn="ctr">
              <a:spcBef>
                <a:spcPts val="0"/>
              </a:spcBef>
              <a:spcAft>
                <a:spcPts val="0"/>
              </a:spcAft>
              <a:buClr>
                <a:srgbClr val="0A0049"/>
              </a:buClr>
              <a:buSzPts val="5200"/>
              <a:buNone/>
              <a:defRPr sz="5200">
                <a:solidFill>
                  <a:srgbClr val="0A0049"/>
                </a:solidFill>
              </a:defRPr>
            </a:lvl8pPr>
            <a:lvl9pPr lvl="8" algn="ctr">
              <a:spcBef>
                <a:spcPts val="0"/>
              </a:spcBef>
              <a:spcAft>
                <a:spcPts val="0"/>
              </a:spcAft>
              <a:buClr>
                <a:srgbClr val="0A0049"/>
              </a:buClr>
              <a:buSzPts val="5200"/>
              <a:buNone/>
              <a:defRPr sz="5200">
                <a:solidFill>
                  <a:srgbClr val="0A0049"/>
                </a:solidFill>
              </a:defRPr>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tly" type="tx">
  <p:cSld name="TITLE_AND_BODY">
    <p:spTree>
      <p:nvGrpSpPr>
        <p:cNvPr id="17" name="Shape 17"/>
        <p:cNvGrpSpPr/>
        <p:nvPr/>
      </p:nvGrpSpPr>
      <p:grpSpPr>
        <a:xfrm>
          <a:off x="0" y="0"/>
          <a:ext cx="0" cy="0"/>
          <a:chOff x="0" y="0"/>
          <a:chExt cx="0" cy="0"/>
        </a:xfrm>
      </p:grpSpPr>
      <p:sp>
        <p:nvSpPr>
          <p:cNvPr id="18" name="Google Shape;18;p4"/>
          <p:cNvSpPr/>
          <p:nvPr/>
        </p:nvSpPr>
        <p:spPr>
          <a:xfrm>
            <a:off x="0" y="0"/>
            <a:ext cx="9144000" cy="986100"/>
          </a:xfrm>
          <a:prstGeom prst="rect">
            <a:avLst/>
          </a:prstGeom>
          <a:solidFill>
            <a:srgbClr val="69BCC1"/>
          </a:solidFill>
          <a:ln>
            <a:noFill/>
          </a:ln>
          <a:effectLst>
            <a:outerShdw blurRad="57150" rotWithShape="0" algn="bl" dir="5400000" dist="19050">
              <a:srgbClr val="000000">
                <a:alpha val="50000"/>
              </a:srgbClr>
            </a:outerShdw>
          </a:effectLst>
        </p:spPr>
        <p:txBody>
          <a:bodyPr anchorCtr="0" anchor="ctr" bIns="100600" lIns="201250" spcFirstLastPara="1" rIns="201250" wrap="square" tIns="100600">
            <a:noAutofit/>
          </a:bodyPr>
          <a:lstStyle/>
          <a:p>
            <a:pPr indent="0" lvl="0" marL="0" marR="0" rtl="0" algn="ctr">
              <a:lnSpc>
                <a:spcPct val="100000"/>
              </a:lnSpc>
              <a:spcBef>
                <a:spcPts val="0"/>
              </a:spcBef>
              <a:spcAft>
                <a:spcPts val="0"/>
              </a:spcAft>
              <a:buClr>
                <a:srgbClr val="000000"/>
              </a:buClr>
              <a:buSzPts val="3100"/>
              <a:buFont typeface="Arial"/>
              <a:buNone/>
            </a:pPr>
            <a:r>
              <a:t/>
            </a:r>
            <a:endParaRPr b="0" i="0" sz="3100" u="none" cap="none" strike="noStrike">
              <a:solidFill>
                <a:srgbClr val="FFFFFF"/>
              </a:solidFill>
              <a:latin typeface="Arial"/>
              <a:ea typeface="Arial"/>
              <a:cs typeface="Arial"/>
              <a:sym typeface="Arial"/>
            </a:endParaRPr>
          </a:p>
        </p:txBody>
      </p:sp>
      <p:sp>
        <p:nvSpPr>
          <p:cNvPr id="19" name="Google Shape;19;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00000"/>
              </a:buClr>
              <a:buSzPts val="3200"/>
              <a:buFont typeface="DM Sans"/>
              <a:buNone/>
              <a:defRPr sz="3200">
                <a:solidFill>
                  <a:srgbClr val="000000"/>
                </a:solidFill>
                <a:latin typeface="DM Sans"/>
                <a:ea typeface="DM Sans"/>
                <a:cs typeface="DM Sans"/>
                <a:sym typeface="DM Sans"/>
              </a:defRPr>
            </a:lvl1pPr>
            <a:lvl2pPr lvl="1">
              <a:spcBef>
                <a:spcPts val="0"/>
              </a:spcBef>
              <a:spcAft>
                <a:spcPts val="0"/>
              </a:spcAft>
              <a:buClr>
                <a:srgbClr val="0A0049"/>
              </a:buClr>
              <a:buSzPts val="3200"/>
              <a:buNone/>
              <a:defRPr sz="3200">
                <a:solidFill>
                  <a:srgbClr val="0A0049"/>
                </a:solidFill>
              </a:defRPr>
            </a:lvl2pPr>
            <a:lvl3pPr lvl="2">
              <a:spcBef>
                <a:spcPts val="0"/>
              </a:spcBef>
              <a:spcAft>
                <a:spcPts val="0"/>
              </a:spcAft>
              <a:buClr>
                <a:srgbClr val="0A0049"/>
              </a:buClr>
              <a:buSzPts val="3200"/>
              <a:buNone/>
              <a:defRPr sz="3200">
                <a:solidFill>
                  <a:srgbClr val="0A0049"/>
                </a:solidFill>
              </a:defRPr>
            </a:lvl3pPr>
            <a:lvl4pPr lvl="3">
              <a:spcBef>
                <a:spcPts val="0"/>
              </a:spcBef>
              <a:spcAft>
                <a:spcPts val="0"/>
              </a:spcAft>
              <a:buClr>
                <a:srgbClr val="0A0049"/>
              </a:buClr>
              <a:buSzPts val="3200"/>
              <a:buNone/>
              <a:defRPr sz="3200">
                <a:solidFill>
                  <a:srgbClr val="0A0049"/>
                </a:solidFill>
              </a:defRPr>
            </a:lvl4pPr>
            <a:lvl5pPr lvl="4">
              <a:spcBef>
                <a:spcPts val="0"/>
              </a:spcBef>
              <a:spcAft>
                <a:spcPts val="0"/>
              </a:spcAft>
              <a:buClr>
                <a:srgbClr val="0A0049"/>
              </a:buClr>
              <a:buSzPts val="3200"/>
              <a:buNone/>
              <a:defRPr sz="3200">
                <a:solidFill>
                  <a:srgbClr val="0A0049"/>
                </a:solidFill>
              </a:defRPr>
            </a:lvl5pPr>
            <a:lvl6pPr lvl="5">
              <a:spcBef>
                <a:spcPts val="0"/>
              </a:spcBef>
              <a:spcAft>
                <a:spcPts val="0"/>
              </a:spcAft>
              <a:buClr>
                <a:srgbClr val="0A0049"/>
              </a:buClr>
              <a:buSzPts val="3200"/>
              <a:buNone/>
              <a:defRPr sz="3200">
                <a:solidFill>
                  <a:srgbClr val="0A0049"/>
                </a:solidFill>
              </a:defRPr>
            </a:lvl6pPr>
            <a:lvl7pPr lvl="6">
              <a:spcBef>
                <a:spcPts val="0"/>
              </a:spcBef>
              <a:spcAft>
                <a:spcPts val="0"/>
              </a:spcAft>
              <a:buClr>
                <a:srgbClr val="0A0049"/>
              </a:buClr>
              <a:buSzPts val="3200"/>
              <a:buNone/>
              <a:defRPr sz="3200">
                <a:solidFill>
                  <a:srgbClr val="0A0049"/>
                </a:solidFill>
              </a:defRPr>
            </a:lvl7pPr>
            <a:lvl8pPr lvl="7">
              <a:spcBef>
                <a:spcPts val="0"/>
              </a:spcBef>
              <a:spcAft>
                <a:spcPts val="0"/>
              </a:spcAft>
              <a:buClr>
                <a:srgbClr val="0A0049"/>
              </a:buClr>
              <a:buSzPts val="3200"/>
              <a:buNone/>
              <a:defRPr sz="3200">
                <a:solidFill>
                  <a:srgbClr val="0A0049"/>
                </a:solidFill>
              </a:defRPr>
            </a:lvl8pPr>
            <a:lvl9pPr lvl="8">
              <a:spcBef>
                <a:spcPts val="0"/>
              </a:spcBef>
              <a:spcAft>
                <a:spcPts val="0"/>
              </a:spcAft>
              <a:buClr>
                <a:srgbClr val="0A0049"/>
              </a:buClr>
              <a:buSzPts val="3200"/>
              <a:buNone/>
              <a:defRPr sz="3200">
                <a:solidFill>
                  <a:srgbClr val="0A0049"/>
                </a:solidFill>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000000"/>
              </a:buClr>
              <a:buSzPts val="1800"/>
              <a:buChar char="●"/>
              <a:defRPr>
                <a:solidFill>
                  <a:srgbClr val="000000"/>
                </a:solidFill>
              </a:defRPr>
            </a:lvl1pPr>
            <a:lvl2pPr indent="-317500" lvl="1" marL="914400">
              <a:spcBef>
                <a:spcPts val="0"/>
              </a:spcBef>
              <a:spcAft>
                <a:spcPts val="0"/>
              </a:spcAft>
              <a:buClr>
                <a:srgbClr val="000000"/>
              </a:buClr>
              <a:buSzPts val="1400"/>
              <a:buChar char="○"/>
              <a:defRPr>
                <a:solidFill>
                  <a:srgbClr val="000000"/>
                </a:solidFill>
              </a:defRPr>
            </a:lvl2pPr>
            <a:lvl3pPr indent="-317500" lvl="2" marL="1371600">
              <a:spcBef>
                <a:spcPts val="0"/>
              </a:spcBef>
              <a:spcAft>
                <a:spcPts val="0"/>
              </a:spcAft>
              <a:buClr>
                <a:srgbClr val="000000"/>
              </a:buClr>
              <a:buSzPts val="1400"/>
              <a:buChar char="■"/>
              <a:defRPr>
                <a:solidFill>
                  <a:srgbClr val="000000"/>
                </a:solidFill>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SzPts val="2800"/>
              <a:buFont typeface="DM Sans"/>
              <a:buNone/>
              <a:defRPr sz="2800">
                <a:latin typeface="DM Sans"/>
                <a:ea typeface="DM Sans"/>
                <a:cs typeface="DM Sans"/>
                <a:sym typeface="DM Sans"/>
              </a:defRPr>
            </a:lvl1pPr>
            <a:lvl2pPr lvl="1">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2pPr>
            <a:lvl3pPr lvl="2">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3pPr>
            <a:lvl4pPr lvl="3">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4pPr>
            <a:lvl5pPr lvl="4">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5pPr>
            <a:lvl6pPr lvl="5">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6pPr>
            <a:lvl7pPr lvl="6">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7pPr>
            <a:lvl8pPr lvl="7">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8pPr>
            <a:lvl9pPr lvl="8">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SzPts val="1800"/>
              <a:buFont typeface="DM Sans"/>
              <a:buChar char="●"/>
              <a:defRPr sz="1800">
                <a:latin typeface="DM Sans"/>
                <a:ea typeface="DM Sans"/>
                <a:cs typeface="DM Sans"/>
                <a:sym typeface="DM Sans"/>
              </a:defRPr>
            </a:lvl1pPr>
            <a:lvl2pPr indent="-317500" lvl="1" marL="914400">
              <a:lnSpc>
                <a:spcPct val="115000"/>
              </a:lnSpc>
              <a:spcBef>
                <a:spcPts val="0"/>
              </a:spcBef>
              <a:spcAft>
                <a:spcPts val="0"/>
              </a:spcAft>
              <a:buSzPts val="1400"/>
              <a:buFont typeface="DM Sans"/>
              <a:buChar char="○"/>
              <a:defRPr>
                <a:latin typeface="DM Sans"/>
                <a:ea typeface="DM Sans"/>
                <a:cs typeface="DM Sans"/>
                <a:sym typeface="DM Sans"/>
              </a:defRPr>
            </a:lvl2pPr>
            <a:lvl3pPr indent="-317500" lvl="2" marL="1371600">
              <a:lnSpc>
                <a:spcPct val="115000"/>
              </a:lnSpc>
              <a:spcBef>
                <a:spcPts val="0"/>
              </a:spcBef>
              <a:spcAft>
                <a:spcPts val="0"/>
              </a:spcAft>
              <a:buSzPts val="1400"/>
              <a:buFont typeface="DM Sans"/>
              <a:buChar char="■"/>
              <a:defRPr>
                <a:latin typeface="DM Sans"/>
                <a:ea typeface="DM Sans"/>
                <a:cs typeface="DM Sans"/>
                <a:sym typeface="DM Sans"/>
              </a:defRPr>
            </a:lvl3pPr>
            <a:lvl4pPr indent="-317500" lvl="3" marL="1828800">
              <a:lnSpc>
                <a:spcPct val="115000"/>
              </a:lnSpc>
              <a:spcBef>
                <a:spcPts val="0"/>
              </a:spcBef>
              <a:spcAft>
                <a:spcPts val="0"/>
              </a:spcAft>
              <a:buSzPts val="1400"/>
              <a:buFont typeface="DM Sans"/>
              <a:buChar char="●"/>
              <a:defRPr>
                <a:latin typeface="DM Sans"/>
                <a:ea typeface="DM Sans"/>
                <a:cs typeface="DM Sans"/>
                <a:sym typeface="DM Sans"/>
              </a:defRPr>
            </a:lvl4pPr>
            <a:lvl5pPr indent="-317500" lvl="4" marL="2286000">
              <a:lnSpc>
                <a:spcPct val="115000"/>
              </a:lnSpc>
              <a:spcBef>
                <a:spcPts val="0"/>
              </a:spcBef>
              <a:spcAft>
                <a:spcPts val="0"/>
              </a:spcAft>
              <a:buSzPts val="1400"/>
              <a:buFont typeface="DM Sans"/>
              <a:buChar char="○"/>
              <a:defRPr>
                <a:latin typeface="DM Sans"/>
                <a:ea typeface="DM Sans"/>
                <a:cs typeface="DM Sans"/>
                <a:sym typeface="DM Sans"/>
              </a:defRPr>
            </a:lvl5pPr>
            <a:lvl6pPr indent="-317500" lvl="5" marL="2743200">
              <a:lnSpc>
                <a:spcPct val="115000"/>
              </a:lnSpc>
              <a:spcBef>
                <a:spcPts val="0"/>
              </a:spcBef>
              <a:spcAft>
                <a:spcPts val="0"/>
              </a:spcAft>
              <a:buSzPts val="1400"/>
              <a:buFont typeface="DM Sans"/>
              <a:buChar char="■"/>
              <a:defRPr>
                <a:latin typeface="DM Sans"/>
                <a:ea typeface="DM Sans"/>
                <a:cs typeface="DM Sans"/>
                <a:sym typeface="DM Sans"/>
              </a:defRPr>
            </a:lvl6pPr>
            <a:lvl7pPr indent="-317500" lvl="6" marL="3200400">
              <a:lnSpc>
                <a:spcPct val="115000"/>
              </a:lnSpc>
              <a:spcBef>
                <a:spcPts val="0"/>
              </a:spcBef>
              <a:spcAft>
                <a:spcPts val="0"/>
              </a:spcAft>
              <a:buSzPts val="1400"/>
              <a:buFont typeface="DM Sans"/>
              <a:buChar char="●"/>
              <a:defRPr>
                <a:latin typeface="DM Sans"/>
                <a:ea typeface="DM Sans"/>
                <a:cs typeface="DM Sans"/>
                <a:sym typeface="DM Sans"/>
              </a:defRPr>
            </a:lvl7pPr>
            <a:lvl8pPr indent="-317500" lvl="7" marL="3657600">
              <a:lnSpc>
                <a:spcPct val="115000"/>
              </a:lnSpc>
              <a:spcBef>
                <a:spcPts val="0"/>
              </a:spcBef>
              <a:spcAft>
                <a:spcPts val="0"/>
              </a:spcAft>
              <a:buSzPts val="1400"/>
              <a:buFont typeface="DM Sans"/>
              <a:buChar char="○"/>
              <a:defRPr>
                <a:latin typeface="DM Sans"/>
                <a:ea typeface="DM Sans"/>
                <a:cs typeface="DM Sans"/>
                <a:sym typeface="DM Sans"/>
              </a:defRPr>
            </a:lvl8pPr>
            <a:lvl9pPr indent="-317500" lvl="8" marL="4114800">
              <a:lnSpc>
                <a:spcPct val="115000"/>
              </a:lnSpc>
              <a:spcBef>
                <a:spcPts val="0"/>
              </a:spcBef>
              <a:spcAft>
                <a:spcPts val="0"/>
              </a:spcAft>
              <a:buSzPts val="1400"/>
              <a:buFont typeface="DM Sans"/>
              <a:buChar char="■"/>
              <a:defRPr>
                <a:latin typeface="DM Sans"/>
                <a:ea typeface="DM Sans"/>
                <a:cs typeface="DM Sans"/>
                <a:sym typeface="DM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Course Capstone</a:t>
            </a:r>
            <a:endParaRPr/>
          </a:p>
        </p:txBody>
      </p:sp>
      <p:sp>
        <p:nvSpPr>
          <p:cNvPr id="57" name="Google Shape;57;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Data Collection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AdWord Ads Clicks</a:t>
            </a:r>
            <a:endParaRPr sz="2800"/>
          </a:p>
        </p:txBody>
      </p:sp>
      <p:sp>
        <p:nvSpPr>
          <p:cNvPr id="63" name="Google Shape;63;p14"/>
          <p:cNvSpPr txBox="1"/>
          <p:nvPr>
            <p:ph idx="1" type="body"/>
          </p:nvPr>
        </p:nvSpPr>
        <p:spPr>
          <a:xfrm>
            <a:off x="311700" y="1152475"/>
            <a:ext cx="85206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t>Mean, Median, and Mode help you compare data. Below, list the mean, median, and mode of the clicks in the provided data.</a:t>
            </a:r>
            <a:endParaRPr sz="1600"/>
          </a:p>
        </p:txBody>
      </p:sp>
      <p:sp>
        <p:nvSpPr>
          <p:cNvPr id="64" name="Google Shape;64;p14"/>
          <p:cNvSpPr txBox="1"/>
          <p:nvPr/>
        </p:nvSpPr>
        <p:spPr>
          <a:xfrm>
            <a:off x="311700" y="1932775"/>
            <a:ext cx="734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434343"/>
                </a:solidFill>
                <a:latin typeface="DM Sans"/>
                <a:ea typeface="DM Sans"/>
                <a:cs typeface="DM Sans"/>
                <a:sym typeface="DM Sans"/>
              </a:rPr>
              <a:t>Mean: 60.383 </a:t>
            </a:r>
            <a:endParaRPr sz="2400">
              <a:solidFill>
                <a:srgbClr val="434343"/>
              </a:solidFill>
              <a:latin typeface="DM Sans"/>
              <a:ea typeface="DM Sans"/>
              <a:cs typeface="DM Sans"/>
              <a:sym typeface="DM Sans"/>
            </a:endParaRPr>
          </a:p>
        </p:txBody>
      </p:sp>
      <p:sp>
        <p:nvSpPr>
          <p:cNvPr id="65" name="Google Shape;65;p14"/>
          <p:cNvSpPr txBox="1"/>
          <p:nvPr/>
        </p:nvSpPr>
        <p:spPr>
          <a:xfrm>
            <a:off x="311700" y="2500788"/>
            <a:ext cx="734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434343"/>
                </a:solidFill>
                <a:latin typeface="DM Sans"/>
                <a:ea typeface="DM Sans"/>
                <a:cs typeface="DM Sans"/>
                <a:sym typeface="DM Sans"/>
              </a:rPr>
              <a:t>Median</a:t>
            </a:r>
            <a:r>
              <a:rPr lang="en" sz="2400">
                <a:solidFill>
                  <a:srgbClr val="434343"/>
                </a:solidFill>
                <a:latin typeface="DM Sans"/>
                <a:ea typeface="DM Sans"/>
                <a:cs typeface="DM Sans"/>
                <a:sym typeface="DM Sans"/>
              </a:rPr>
              <a:t>: 60</a:t>
            </a:r>
            <a:endParaRPr sz="2400">
              <a:solidFill>
                <a:srgbClr val="434343"/>
              </a:solidFill>
              <a:latin typeface="DM Sans"/>
              <a:ea typeface="DM Sans"/>
              <a:cs typeface="DM Sans"/>
              <a:sym typeface="DM Sans"/>
            </a:endParaRPr>
          </a:p>
        </p:txBody>
      </p:sp>
      <p:sp>
        <p:nvSpPr>
          <p:cNvPr id="66" name="Google Shape;66;p14"/>
          <p:cNvSpPr txBox="1"/>
          <p:nvPr/>
        </p:nvSpPr>
        <p:spPr>
          <a:xfrm>
            <a:off x="311700" y="3068800"/>
            <a:ext cx="734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434343"/>
                </a:solidFill>
                <a:latin typeface="DM Sans"/>
                <a:ea typeface="DM Sans"/>
                <a:cs typeface="DM Sans"/>
                <a:sym typeface="DM Sans"/>
              </a:rPr>
              <a:t>Mode</a:t>
            </a:r>
            <a:r>
              <a:rPr lang="en" sz="2400">
                <a:solidFill>
                  <a:srgbClr val="434343"/>
                </a:solidFill>
                <a:latin typeface="DM Sans"/>
                <a:ea typeface="DM Sans"/>
                <a:cs typeface="DM Sans"/>
                <a:sym typeface="DM Sans"/>
              </a:rPr>
              <a:t>: 78</a:t>
            </a:r>
            <a:endParaRPr sz="2400">
              <a:solidFill>
                <a:srgbClr val="434343"/>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AdWord Ads Conversions</a:t>
            </a:r>
            <a:endParaRPr sz="2800"/>
          </a:p>
        </p:txBody>
      </p:sp>
      <p:sp>
        <p:nvSpPr>
          <p:cNvPr id="72" name="Google Shape;72;p15"/>
          <p:cNvSpPr txBox="1"/>
          <p:nvPr>
            <p:ph idx="1" type="body"/>
          </p:nvPr>
        </p:nvSpPr>
        <p:spPr>
          <a:xfrm>
            <a:off x="311700" y="1152475"/>
            <a:ext cx="85206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t>Mean, Median, and Mode help you compare data. Below, list the mean, median, and mode of the conversions in the provided data.</a:t>
            </a:r>
            <a:endParaRPr sz="1600"/>
          </a:p>
        </p:txBody>
      </p:sp>
      <p:sp>
        <p:nvSpPr>
          <p:cNvPr id="73" name="Google Shape;73;p15"/>
          <p:cNvSpPr txBox="1"/>
          <p:nvPr/>
        </p:nvSpPr>
        <p:spPr>
          <a:xfrm>
            <a:off x="311700" y="1932775"/>
            <a:ext cx="734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434343"/>
                </a:solidFill>
                <a:latin typeface="DM Sans"/>
                <a:ea typeface="DM Sans"/>
                <a:cs typeface="DM Sans"/>
                <a:sym typeface="DM Sans"/>
              </a:rPr>
              <a:t>Mean: 5.9808</a:t>
            </a:r>
            <a:endParaRPr sz="2400">
              <a:solidFill>
                <a:srgbClr val="434343"/>
              </a:solidFill>
              <a:latin typeface="DM Sans"/>
              <a:ea typeface="DM Sans"/>
              <a:cs typeface="DM Sans"/>
              <a:sym typeface="DM Sans"/>
            </a:endParaRPr>
          </a:p>
        </p:txBody>
      </p:sp>
      <p:sp>
        <p:nvSpPr>
          <p:cNvPr id="74" name="Google Shape;74;p15"/>
          <p:cNvSpPr txBox="1"/>
          <p:nvPr/>
        </p:nvSpPr>
        <p:spPr>
          <a:xfrm>
            <a:off x="311700" y="2500788"/>
            <a:ext cx="734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434343"/>
                </a:solidFill>
                <a:latin typeface="DM Sans"/>
                <a:ea typeface="DM Sans"/>
                <a:cs typeface="DM Sans"/>
                <a:sym typeface="DM Sans"/>
              </a:rPr>
              <a:t>Median: 6</a:t>
            </a:r>
            <a:endParaRPr sz="2400">
              <a:solidFill>
                <a:srgbClr val="434343"/>
              </a:solidFill>
              <a:latin typeface="DM Sans"/>
              <a:ea typeface="DM Sans"/>
              <a:cs typeface="DM Sans"/>
              <a:sym typeface="DM Sans"/>
            </a:endParaRPr>
          </a:p>
        </p:txBody>
      </p:sp>
      <p:sp>
        <p:nvSpPr>
          <p:cNvPr id="75" name="Google Shape;75;p15"/>
          <p:cNvSpPr txBox="1"/>
          <p:nvPr/>
        </p:nvSpPr>
        <p:spPr>
          <a:xfrm>
            <a:off x="311700" y="3068800"/>
            <a:ext cx="734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434343"/>
                </a:solidFill>
                <a:latin typeface="DM Sans"/>
                <a:ea typeface="DM Sans"/>
                <a:cs typeface="DM Sans"/>
                <a:sym typeface="DM Sans"/>
              </a:rPr>
              <a:t>Mode: 5</a:t>
            </a:r>
            <a:endParaRPr sz="2400">
              <a:solidFill>
                <a:srgbClr val="434343"/>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AdWord Ads Standard Deviation</a:t>
            </a:r>
            <a:endParaRPr sz="2800"/>
          </a:p>
        </p:txBody>
      </p:sp>
      <p:sp>
        <p:nvSpPr>
          <p:cNvPr id="81" name="Google Shape;81;p16"/>
          <p:cNvSpPr txBox="1"/>
          <p:nvPr>
            <p:ph idx="1" type="body"/>
          </p:nvPr>
        </p:nvSpPr>
        <p:spPr>
          <a:xfrm>
            <a:off x="311700" y="1152475"/>
            <a:ext cx="85206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t>Determining variance in data helps you. Below, enter the </a:t>
            </a:r>
            <a:r>
              <a:rPr lang="en" sz="1600"/>
              <a:t>standard</a:t>
            </a:r>
            <a:r>
              <a:rPr lang="en" sz="1600"/>
              <a:t> deviation of the provided data. </a:t>
            </a:r>
            <a:endParaRPr sz="1600"/>
          </a:p>
        </p:txBody>
      </p:sp>
      <p:sp>
        <p:nvSpPr>
          <p:cNvPr id="82" name="Google Shape;82;p16"/>
          <p:cNvSpPr txBox="1"/>
          <p:nvPr/>
        </p:nvSpPr>
        <p:spPr>
          <a:xfrm>
            <a:off x="311700" y="1932775"/>
            <a:ext cx="734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434343"/>
                </a:solidFill>
                <a:latin typeface="DM Sans"/>
                <a:ea typeface="DM Sans"/>
                <a:cs typeface="DM Sans"/>
                <a:sym typeface="DM Sans"/>
              </a:rPr>
              <a:t>Standard Deviation of Clicks</a:t>
            </a:r>
            <a:r>
              <a:rPr lang="en" sz="2400">
                <a:solidFill>
                  <a:srgbClr val="434343"/>
                </a:solidFill>
                <a:latin typeface="DM Sans"/>
                <a:ea typeface="DM Sans"/>
                <a:cs typeface="DM Sans"/>
                <a:sym typeface="DM Sans"/>
              </a:rPr>
              <a:t>: 14.368</a:t>
            </a:r>
            <a:endParaRPr sz="2400">
              <a:solidFill>
                <a:srgbClr val="434343"/>
              </a:solidFill>
              <a:latin typeface="DM Sans"/>
              <a:ea typeface="DM Sans"/>
              <a:cs typeface="DM Sans"/>
              <a:sym typeface="DM Sans"/>
            </a:endParaRPr>
          </a:p>
        </p:txBody>
      </p:sp>
      <p:sp>
        <p:nvSpPr>
          <p:cNvPr id="83" name="Google Shape;83;p16"/>
          <p:cNvSpPr txBox="1"/>
          <p:nvPr/>
        </p:nvSpPr>
        <p:spPr>
          <a:xfrm>
            <a:off x="311700" y="2486875"/>
            <a:ext cx="734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434343"/>
                </a:solidFill>
                <a:latin typeface="DM Sans"/>
                <a:ea typeface="DM Sans"/>
                <a:cs typeface="DM Sans"/>
                <a:sym typeface="DM Sans"/>
              </a:rPr>
              <a:t>Standard Deviation of Conversions: 1.628</a:t>
            </a:r>
            <a:endParaRPr sz="2400">
              <a:solidFill>
                <a:srgbClr val="434343"/>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Frequency and Contingency Tables</a:t>
            </a:r>
            <a:endParaRPr sz="2800"/>
          </a:p>
        </p:txBody>
      </p:sp>
      <p:sp>
        <p:nvSpPr>
          <p:cNvPr id="89" name="Google Shape;89;p17"/>
          <p:cNvSpPr txBox="1"/>
          <p:nvPr>
            <p:ph idx="1" type="body"/>
          </p:nvPr>
        </p:nvSpPr>
        <p:spPr>
          <a:xfrm>
            <a:off x="311700" y="1152475"/>
            <a:ext cx="85206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t>Understanding how often something happens is important to understanding trends and patterns in your data. Create and insert a contingency table generated from your data.</a:t>
            </a:r>
            <a:endParaRPr sz="1600"/>
          </a:p>
        </p:txBody>
      </p:sp>
      <p:pic>
        <p:nvPicPr>
          <p:cNvPr id="90" name="Google Shape;90;p17" title="Screenshot 2025-11-09 163622.png"/>
          <p:cNvPicPr preferRelativeResize="0"/>
          <p:nvPr/>
        </p:nvPicPr>
        <p:blipFill>
          <a:blip r:embed="rId3">
            <a:alphaModFix/>
          </a:blip>
          <a:stretch>
            <a:fillRect/>
          </a:stretch>
        </p:blipFill>
        <p:spPr>
          <a:xfrm>
            <a:off x="653350" y="2228850"/>
            <a:ext cx="7837301" cy="1390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Scatter Plot</a:t>
            </a:r>
            <a:endParaRPr sz="2800"/>
          </a:p>
        </p:txBody>
      </p:sp>
      <p:sp>
        <p:nvSpPr>
          <p:cNvPr id="96" name="Google Shape;96;p18"/>
          <p:cNvSpPr txBox="1"/>
          <p:nvPr>
            <p:ph idx="1" type="body"/>
          </p:nvPr>
        </p:nvSpPr>
        <p:spPr>
          <a:xfrm>
            <a:off x="311700" y="1152475"/>
            <a:ext cx="85206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t>Understanding the </a:t>
            </a:r>
            <a:r>
              <a:rPr lang="en" sz="1600">
                <a:highlight>
                  <a:srgbClr val="FFDE00"/>
                </a:highlight>
              </a:rPr>
              <a:t>relationships between data is important to understanding trends and patterns</a:t>
            </a:r>
            <a:r>
              <a:rPr lang="en" sz="1600"/>
              <a:t>. Create and insert a scatter plot generated from your data. Then, include the input the correlation coefficient as well.</a:t>
            </a:r>
            <a:endParaRPr sz="1600"/>
          </a:p>
        </p:txBody>
      </p:sp>
      <p:sp>
        <p:nvSpPr>
          <p:cNvPr id="97" name="Google Shape;97;p18"/>
          <p:cNvSpPr txBox="1"/>
          <p:nvPr/>
        </p:nvSpPr>
        <p:spPr>
          <a:xfrm>
            <a:off x="311700" y="2707425"/>
            <a:ext cx="4032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434343"/>
                </a:solidFill>
                <a:latin typeface="DM Sans"/>
                <a:ea typeface="DM Sans"/>
                <a:cs typeface="DM Sans"/>
                <a:sym typeface="DM Sans"/>
              </a:rPr>
              <a:t>Correlation coefficient:</a:t>
            </a:r>
            <a:r>
              <a:rPr lang="en" sz="1800">
                <a:solidFill>
                  <a:srgbClr val="434343"/>
                </a:solidFill>
                <a:latin typeface="DM Sans"/>
                <a:ea typeface="DM Sans"/>
                <a:cs typeface="DM Sans"/>
                <a:sym typeface="DM Sans"/>
              </a:rPr>
              <a:t> </a:t>
            </a:r>
            <a:r>
              <a:rPr lang="en" sz="1800">
                <a:solidFill>
                  <a:schemeClr val="dk1"/>
                </a:solidFill>
                <a:latin typeface="DM Sans"/>
                <a:ea typeface="DM Sans"/>
                <a:cs typeface="DM Sans"/>
                <a:sym typeface="DM Sans"/>
              </a:rPr>
              <a:t>0.44799</a:t>
            </a:r>
            <a:endParaRPr sz="1800">
              <a:solidFill>
                <a:srgbClr val="434343"/>
              </a:solidFill>
              <a:latin typeface="DM Sans"/>
              <a:ea typeface="DM Sans"/>
              <a:cs typeface="DM Sans"/>
              <a:sym typeface="DM Sans"/>
            </a:endParaRPr>
          </a:p>
        </p:txBody>
      </p:sp>
      <p:sp>
        <p:nvSpPr>
          <p:cNvPr id="98" name="Google Shape;98;p18"/>
          <p:cNvSpPr txBox="1"/>
          <p:nvPr/>
        </p:nvSpPr>
        <p:spPr>
          <a:xfrm>
            <a:off x="4740913" y="2001525"/>
            <a:ext cx="3660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434343"/>
                </a:solidFill>
                <a:latin typeface="DM Sans"/>
                <a:ea typeface="DM Sans"/>
                <a:cs typeface="DM Sans"/>
                <a:sym typeface="DM Sans"/>
              </a:rPr>
              <a:t>Scatter Plot of your data:</a:t>
            </a:r>
            <a:endParaRPr sz="1800">
              <a:solidFill>
                <a:srgbClr val="434343"/>
              </a:solidFill>
              <a:latin typeface="DM Sans"/>
              <a:ea typeface="DM Sans"/>
              <a:cs typeface="DM Sans"/>
              <a:sym typeface="DM Sans"/>
            </a:endParaRPr>
          </a:p>
        </p:txBody>
      </p:sp>
      <p:pic>
        <p:nvPicPr>
          <p:cNvPr id="99" name="Google Shape;99;p18" title="AdWords Ad Conversions V Clicks.png"/>
          <p:cNvPicPr preferRelativeResize="0"/>
          <p:nvPr/>
        </p:nvPicPr>
        <p:blipFill rotWithShape="1">
          <a:blip r:embed="rId3">
            <a:alphaModFix/>
          </a:blip>
          <a:srcRect b="0" l="0" r="0" t="0"/>
          <a:stretch/>
        </p:blipFill>
        <p:spPr>
          <a:xfrm>
            <a:off x="5064550" y="2463225"/>
            <a:ext cx="3841739" cy="2375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End of Module 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Sample Type</a:t>
            </a:r>
            <a:endParaRPr sz="2800"/>
          </a:p>
        </p:txBody>
      </p:sp>
      <p:sp>
        <p:nvSpPr>
          <p:cNvPr id="110" name="Google Shape;110;p20"/>
          <p:cNvSpPr txBox="1"/>
          <p:nvPr>
            <p:ph idx="1" type="body"/>
          </p:nvPr>
        </p:nvSpPr>
        <p:spPr>
          <a:xfrm>
            <a:off x="311700" y="1152475"/>
            <a:ext cx="85206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t>It’s important to understand the sample you’re using in your analysis. Fill in the information below about the sample you have received:</a:t>
            </a:r>
            <a:endParaRPr sz="1600"/>
          </a:p>
        </p:txBody>
      </p:sp>
      <p:sp>
        <p:nvSpPr>
          <p:cNvPr id="111" name="Google Shape;111;p20"/>
          <p:cNvSpPr txBox="1"/>
          <p:nvPr/>
        </p:nvSpPr>
        <p:spPr>
          <a:xfrm>
            <a:off x="4740913" y="2001525"/>
            <a:ext cx="3660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434343"/>
                </a:solidFill>
                <a:latin typeface="DM Sans"/>
                <a:ea typeface="DM Sans"/>
                <a:cs typeface="DM Sans"/>
                <a:sym typeface="DM Sans"/>
              </a:rPr>
              <a:t>Histogram of conversions data:</a:t>
            </a:r>
            <a:endParaRPr sz="1800">
              <a:solidFill>
                <a:srgbClr val="434343"/>
              </a:solidFill>
              <a:latin typeface="DM Sans"/>
              <a:ea typeface="DM Sans"/>
              <a:cs typeface="DM Sans"/>
              <a:sym typeface="DM Sans"/>
            </a:endParaRPr>
          </a:p>
        </p:txBody>
      </p:sp>
      <p:sp>
        <p:nvSpPr>
          <p:cNvPr id="112" name="Google Shape;112;p20"/>
          <p:cNvSpPr txBox="1"/>
          <p:nvPr/>
        </p:nvSpPr>
        <p:spPr>
          <a:xfrm>
            <a:off x="311688" y="2001525"/>
            <a:ext cx="3660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434343"/>
                </a:solidFill>
                <a:latin typeface="DM Sans"/>
                <a:ea typeface="DM Sans"/>
                <a:cs typeface="DM Sans"/>
                <a:sym typeface="DM Sans"/>
              </a:rPr>
              <a:t>Histogram of your clicks data:</a:t>
            </a:r>
            <a:endParaRPr sz="1800">
              <a:solidFill>
                <a:srgbClr val="434343"/>
              </a:solidFill>
              <a:latin typeface="DM Sans"/>
              <a:ea typeface="DM Sans"/>
              <a:cs typeface="DM Sans"/>
              <a:sym typeface="DM Sans"/>
            </a:endParaRPr>
          </a:p>
        </p:txBody>
      </p:sp>
      <p:pic>
        <p:nvPicPr>
          <p:cNvPr id="113" name="Google Shape;113;p20" title="AdWords Ad Clicks.png"/>
          <p:cNvPicPr preferRelativeResize="0"/>
          <p:nvPr/>
        </p:nvPicPr>
        <p:blipFill>
          <a:blip r:embed="rId3">
            <a:alphaModFix/>
          </a:blip>
          <a:stretch>
            <a:fillRect/>
          </a:stretch>
        </p:blipFill>
        <p:spPr>
          <a:xfrm>
            <a:off x="311700" y="2597975"/>
            <a:ext cx="3841739" cy="2375475"/>
          </a:xfrm>
          <a:prstGeom prst="rect">
            <a:avLst/>
          </a:prstGeom>
          <a:noFill/>
          <a:ln>
            <a:noFill/>
          </a:ln>
        </p:spPr>
      </p:pic>
      <p:pic>
        <p:nvPicPr>
          <p:cNvPr id="114" name="Google Shape;114;p20" title="AdWords Ad Conversions.png"/>
          <p:cNvPicPr preferRelativeResize="0"/>
          <p:nvPr/>
        </p:nvPicPr>
        <p:blipFill>
          <a:blip r:embed="rId4">
            <a:alphaModFix/>
          </a:blip>
          <a:stretch>
            <a:fillRect/>
          </a:stretch>
        </p:blipFill>
        <p:spPr>
          <a:xfrm>
            <a:off x="4799213" y="2597975"/>
            <a:ext cx="3841739" cy="2375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Module 2: Sample Type</a:t>
            </a:r>
            <a:endParaRPr sz="2800"/>
          </a:p>
        </p:txBody>
      </p:sp>
      <p:sp>
        <p:nvSpPr>
          <p:cNvPr id="120" name="Google Shape;120;p21"/>
          <p:cNvSpPr txBox="1"/>
          <p:nvPr>
            <p:ph idx="1" type="body"/>
          </p:nvPr>
        </p:nvSpPr>
        <p:spPr>
          <a:xfrm>
            <a:off x="311700" y="1152475"/>
            <a:ext cx="85206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highlight>
                  <a:srgbClr val="FFDE00"/>
                </a:highlight>
              </a:rPr>
              <a:t>It’s important to understand the sample you’re using in your analysis. Fill in the information below about the sample you have received:</a:t>
            </a:r>
            <a:endParaRPr sz="1600">
              <a:highlight>
                <a:srgbClr val="FFDE00"/>
              </a:highlight>
            </a:endParaRPr>
          </a:p>
        </p:txBody>
      </p:sp>
      <p:sp>
        <p:nvSpPr>
          <p:cNvPr id="121" name="Google Shape;121;p21"/>
          <p:cNvSpPr txBox="1"/>
          <p:nvPr/>
        </p:nvSpPr>
        <p:spPr>
          <a:xfrm>
            <a:off x="311700" y="3480975"/>
            <a:ext cx="8520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434343"/>
                </a:solidFill>
                <a:latin typeface="DM Sans"/>
                <a:ea typeface="DM Sans"/>
                <a:cs typeface="DM Sans"/>
                <a:sym typeface="DM Sans"/>
              </a:rPr>
              <a:t>Does the conversions data have a normal distribution? </a:t>
            </a:r>
            <a:endParaRPr sz="1800">
              <a:solidFill>
                <a:srgbClr val="434343"/>
              </a:solidFill>
              <a:latin typeface="DM Sans"/>
              <a:ea typeface="DM Sans"/>
              <a:cs typeface="DM Sans"/>
              <a:sym typeface="DM Sans"/>
            </a:endParaRPr>
          </a:p>
          <a:p>
            <a:pPr indent="0" lvl="0" marL="0" rtl="0" algn="l">
              <a:spcBef>
                <a:spcPts val="0"/>
              </a:spcBef>
              <a:spcAft>
                <a:spcPts val="0"/>
              </a:spcAft>
              <a:buNone/>
            </a:pPr>
            <a:r>
              <a:rPr lang="en" sz="1800">
                <a:solidFill>
                  <a:srgbClr val="434343"/>
                </a:solidFill>
                <a:latin typeface="DM Sans"/>
                <a:ea typeface="DM Sans"/>
                <a:cs typeface="DM Sans"/>
                <a:sym typeface="DM Sans"/>
              </a:rPr>
              <a:t>Yes it does.</a:t>
            </a:r>
            <a:endParaRPr sz="1800">
              <a:solidFill>
                <a:srgbClr val="434343"/>
              </a:solidFill>
              <a:latin typeface="DM Sans"/>
              <a:ea typeface="DM Sans"/>
              <a:cs typeface="DM Sans"/>
              <a:sym typeface="DM Sans"/>
            </a:endParaRPr>
          </a:p>
        </p:txBody>
      </p:sp>
      <p:sp>
        <p:nvSpPr>
          <p:cNvPr id="122" name="Google Shape;122;p21"/>
          <p:cNvSpPr txBox="1"/>
          <p:nvPr/>
        </p:nvSpPr>
        <p:spPr>
          <a:xfrm>
            <a:off x="311700" y="2707425"/>
            <a:ext cx="8520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434343"/>
                </a:solidFill>
                <a:latin typeface="DM Sans"/>
                <a:ea typeface="DM Sans"/>
                <a:cs typeface="DM Sans"/>
                <a:sym typeface="DM Sans"/>
              </a:rPr>
              <a:t>Does the clicks data have a normal distribution? </a:t>
            </a:r>
            <a:endParaRPr sz="1800">
              <a:solidFill>
                <a:srgbClr val="434343"/>
              </a:solidFill>
              <a:latin typeface="DM Sans"/>
              <a:ea typeface="DM Sans"/>
              <a:cs typeface="DM Sans"/>
              <a:sym typeface="DM Sans"/>
            </a:endParaRPr>
          </a:p>
          <a:p>
            <a:pPr indent="0" lvl="0" marL="0" rtl="0" algn="l">
              <a:spcBef>
                <a:spcPts val="0"/>
              </a:spcBef>
              <a:spcAft>
                <a:spcPts val="0"/>
              </a:spcAft>
              <a:buNone/>
            </a:pPr>
            <a:r>
              <a:rPr lang="en" sz="1800">
                <a:solidFill>
                  <a:srgbClr val="434343"/>
                </a:solidFill>
                <a:latin typeface="DM Sans"/>
                <a:ea typeface="DM Sans"/>
                <a:cs typeface="DM Sans"/>
                <a:sym typeface="DM Sans"/>
              </a:rPr>
              <a:t>No it does not have normal distribution</a:t>
            </a:r>
            <a:endParaRPr sz="1800">
              <a:solidFill>
                <a:srgbClr val="434343"/>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Variable Types</a:t>
            </a:r>
            <a:endParaRPr sz="2800"/>
          </a:p>
        </p:txBody>
      </p:sp>
      <p:sp>
        <p:nvSpPr>
          <p:cNvPr id="128" name="Google Shape;128;p22"/>
          <p:cNvSpPr txBox="1"/>
          <p:nvPr>
            <p:ph idx="1" type="body"/>
          </p:nvPr>
        </p:nvSpPr>
        <p:spPr>
          <a:xfrm>
            <a:off x="387900" y="1192850"/>
            <a:ext cx="85206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t>Determining the types of variables your working with is an important skill. Below, list the variables from your data that are:</a:t>
            </a:r>
            <a:endParaRPr sz="1600"/>
          </a:p>
        </p:txBody>
      </p:sp>
      <p:sp>
        <p:nvSpPr>
          <p:cNvPr id="129" name="Google Shape;129;p22"/>
          <p:cNvSpPr txBox="1"/>
          <p:nvPr/>
        </p:nvSpPr>
        <p:spPr>
          <a:xfrm>
            <a:off x="387900" y="1944013"/>
            <a:ext cx="734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A004A"/>
                </a:solidFill>
                <a:latin typeface="DM Sans"/>
                <a:ea typeface="DM Sans"/>
                <a:cs typeface="DM Sans"/>
                <a:sym typeface="DM Sans"/>
              </a:rPr>
              <a:t>Quantitative</a:t>
            </a:r>
            <a:r>
              <a:rPr lang="en" sz="1800">
                <a:solidFill>
                  <a:srgbClr val="0A004A"/>
                </a:solidFill>
                <a:latin typeface="DM Sans"/>
                <a:ea typeface="DM Sans"/>
                <a:cs typeface="DM Sans"/>
                <a:sym typeface="DM Sans"/>
              </a:rPr>
              <a:t>: </a:t>
            </a:r>
            <a:endParaRPr sz="1800">
              <a:solidFill>
                <a:srgbClr val="0A004A"/>
              </a:solidFill>
              <a:latin typeface="DM Sans"/>
              <a:ea typeface="DM Sans"/>
              <a:cs typeface="DM Sans"/>
              <a:sym typeface="DM Sans"/>
            </a:endParaRPr>
          </a:p>
        </p:txBody>
      </p:sp>
      <p:sp>
        <p:nvSpPr>
          <p:cNvPr id="130" name="Google Shape;130;p22"/>
          <p:cNvSpPr txBox="1"/>
          <p:nvPr/>
        </p:nvSpPr>
        <p:spPr>
          <a:xfrm>
            <a:off x="387900" y="3557612"/>
            <a:ext cx="734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A004A"/>
                </a:solidFill>
                <a:latin typeface="DM Sans"/>
                <a:ea typeface="DM Sans"/>
                <a:cs typeface="DM Sans"/>
                <a:sym typeface="DM Sans"/>
              </a:rPr>
              <a:t>Qualitative</a:t>
            </a:r>
            <a:r>
              <a:rPr lang="en" sz="1800">
                <a:solidFill>
                  <a:srgbClr val="0A004A"/>
                </a:solidFill>
                <a:latin typeface="DM Sans"/>
                <a:ea typeface="DM Sans"/>
                <a:cs typeface="DM Sans"/>
                <a:sym typeface="DM Sans"/>
              </a:rPr>
              <a:t>: </a:t>
            </a:r>
            <a:endParaRPr sz="1800">
              <a:solidFill>
                <a:srgbClr val="0A004A"/>
              </a:solidFill>
              <a:latin typeface="DM Sans"/>
              <a:ea typeface="DM Sans"/>
              <a:cs typeface="DM Sans"/>
              <a:sym typeface="DM Sans"/>
            </a:endParaRPr>
          </a:p>
        </p:txBody>
      </p:sp>
      <p:sp>
        <p:nvSpPr>
          <p:cNvPr id="131" name="Google Shape;131;p22"/>
          <p:cNvSpPr txBox="1"/>
          <p:nvPr/>
        </p:nvSpPr>
        <p:spPr>
          <a:xfrm>
            <a:off x="665250" y="2442600"/>
            <a:ext cx="7845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A004A"/>
                </a:solidFill>
                <a:latin typeface="DM Sans"/>
                <a:ea typeface="DM Sans"/>
                <a:cs typeface="DM Sans"/>
                <a:sym typeface="DM Sans"/>
              </a:rPr>
              <a:t>Continuous</a:t>
            </a:r>
            <a:r>
              <a:rPr lang="en" sz="1800">
                <a:solidFill>
                  <a:srgbClr val="0A004A"/>
                </a:solidFill>
                <a:latin typeface="DM Sans"/>
                <a:ea typeface="DM Sans"/>
                <a:cs typeface="DM Sans"/>
                <a:sym typeface="DM Sans"/>
              </a:rPr>
              <a:t>: AdWords Click-Through Rate, AdWords Conversion Rate, AdWords Cost per Click.</a:t>
            </a:r>
            <a:endParaRPr sz="1800">
              <a:solidFill>
                <a:srgbClr val="0A004A"/>
              </a:solidFill>
              <a:latin typeface="DM Sans"/>
              <a:ea typeface="DM Sans"/>
              <a:cs typeface="DM Sans"/>
              <a:sym typeface="DM Sans"/>
            </a:endParaRPr>
          </a:p>
        </p:txBody>
      </p:sp>
      <p:sp>
        <p:nvSpPr>
          <p:cNvPr id="132" name="Google Shape;132;p22"/>
          <p:cNvSpPr txBox="1"/>
          <p:nvPr/>
        </p:nvSpPr>
        <p:spPr>
          <a:xfrm>
            <a:off x="665250" y="3097181"/>
            <a:ext cx="796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A004A"/>
                </a:solidFill>
                <a:latin typeface="DM Sans"/>
                <a:ea typeface="DM Sans"/>
                <a:cs typeface="DM Sans"/>
                <a:sym typeface="DM Sans"/>
              </a:rPr>
              <a:t>Discrete</a:t>
            </a:r>
            <a:r>
              <a:rPr lang="en" sz="1800">
                <a:solidFill>
                  <a:srgbClr val="0A004A"/>
                </a:solidFill>
                <a:latin typeface="DM Sans"/>
                <a:ea typeface="DM Sans"/>
                <a:cs typeface="DM Sans"/>
                <a:sym typeface="DM Sans"/>
              </a:rPr>
              <a:t>: </a:t>
            </a:r>
            <a:r>
              <a:rPr lang="en" sz="1800">
                <a:solidFill>
                  <a:srgbClr val="0A004A"/>
                </a:solidFill>
                <a:latin typeface="DM Sans"/>
                <a:ea typeface="DM Sans"/>
                <a:cs typeface="DM Sans"/>
                <a:sym typeface="DM Sans"/>
              </a:rPr>
              <a:t>AdWords Ad Views, AdWords Ad Clicks ,Cost per AdWords Ad.</a:t>
            </a:r>
            <a:endParaRPr sz="1800">
              <a:solidFill>
                <a:srgbClr val="0A004A"/>
              </a:solidFill>
              <a:latin typeface="DM Sans"/>
              <a:ea typeface="DM Sans"/>
              <a:cs typeface="DM Sans"/>
              <a:sym typeface="DM Sans"/>
            </a:endParaRPr>
          </a:p>
        </p:txBody>
      </p:sp>
      <p:sp>
        <p:nvSpPr>
          <p:cNvPr id="133" name="Google Shape;133;p22"/>
          <p:cNvSpPr txBox="1"/>
          <p:nvPr/>
        </p:nvSpPr>
        <p:spPr>
          <a:xfrm>
            <a:off x="665250" y="3992852"/>
            <a:ext cx="734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A004A"/>
                </a:solidFill>
                <a:latin typeface="DM Sans"/>
                <a:ea typeface="DM Sans"/>
                <a:cs typeface="DM Sans"/>
                <a:sym typeface="DM Sans"/>
              </a:rPr>
              <a:t>Nominal</a:t>
            </a:r>
            <a:r>
              <a:rPr lang="en" sz="1800">
                <a:solidFill>
                  <a:srgbClr val="0A004A"/>
                </a:solidFill>
                <a:latin typeface="DM Sans"/>
                <a:ea typeface="DM Sans"/>
                <a:cs typeface="DM Sans"/>
                <a:sym typeface="DM Sans"/>
              </a:rPr>
              <a:t>: N/A</a:t>
            </a:r>
            <a:endParaRPr sz="1800">
              <a:solidFill>
                <a:srgbClr val="0A004A"/>
              </a:solidFill>
              <a:latin typeface="DM Sans"/>
              <a:ea typeface="DM Sans"/>
              <a:cs typeface="DM Sans"/>
              <a:sym typeface="DM Sans"/>
            </a:endParaRPr>
          </a:p>
        </p:txBody>
      </p:sp>
      <p:sp>
        <p:nvSpPr>
          <p:cNvPr id="134" name="Google Shape;134;p22"/>
          <p:cNvSpPr txBox="1"/>
          <p:nvPr/>
        </p:nvSpPr>
        <p:spPr>
          <a:xfrm>
            <a:off x="665250" y="4503073"/>
            <a:ext cx="734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A004A"/>
                </a:solidFill>
                <a:latin typeface="DM Sans"/>
                <a:ea typeface="DM Sans"/>
                <a:cs typeface="DM Sans"/>
                <a:sym typeface="DM Sans"/>
              </a:rPr>
              <a:t>Ordinal</a:t>
            </a:r>
            <a:r>
              <a:rPr lang="en" sz="1800">
                <a:solidFill>
                  <a:srgbClr val="0A004A"/>
                </a:solidFill>
                <a:latin typeface="DM Sans"/>
                <a:ea typeface="DM Sans"/>
                <a:cs typeface="DM Sans"/>
                <a:sym typeface="DM Sans"/>
              </a:rPr>
              <a:t>: N/A</a:t>
            </a:r>
            <a:endParaRPr sz="1800">
              <a:solidFill>
                <a:srgbClr val="0A004A"/>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End of Module 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Question and Hypothesis</a:t>
            </a:r>
            <a:endParaRPr sz="2800"/>
          </a:p>
        </p:txBody>
      </p:sp>
      <p:sp>
        <p:nvSpPr>
          <p:cNvPr id="145" name="Google Shape;145;p24"/>
          <p:cNvSpPr txBox="1"/>
          <p:nvPr>
            <p:ph idx="1" type="body"/>
          </p:nvPr>
        </p:nvSpPr>
        <p:spPr>
          <a:xfrm>
            <a:off x="311700" y="1152475"/>
            <a:ext cx="85206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t>The question you hope to answer and your hypothesized answer are necessary to complete an analysis. Answer the following questions</a:t>
            </a:r>
            <a:endParaRPr sz="1600"/>
          </a:p>
        </p:txBody>
      </p:sp>
      <p:sp>
        <p:nvSpPr>
          <p:cNvPr id="146" name="Google Shape;146;p24"/>
          <p:cNvSpPr txBox="1"/>
          <p:nvPr/>
        </p:nvSpPr>
        <p:spPr>
          <a:xfrm>
            <a:off x="375300" y="1932775"/>
            <a:ext cx="8393400" cy="2775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rgbClr val="0A004A"/>
                </a:solidFill>
                <a:latin typeface="DM Sans"/>
                <a:ea typeface="DM Sans"/>
                <a:cs typeface="DM Sans"/>
                <a:sym typeface="DM Sans"/>
              </a:rPr>
              <a:t>What is your hypothesis based off the evaluation question? </a:t>
            </a:r>
            <a:endParaRPr sz="1800">
              <a:solidFill>
                <a:srgbClr val="0A004A"/>
              </a:solidFill>
              <a:latin typeface="DM Sans"/>
              <a:ea typeface="DM Sans"/>
              <a:cs typeface="DM Sans"/>
              <a:sym typeface="DM Sans"/>
            </a:endParaRPr>
          </a:p>
          <a:p>
            <a:pPr indent="0" lvl="0" marL="0" rtl="0" algn="l">
              <a:spcBef>
                <a:spcPts val="0"/>
              </a:spcBef>
              <a:spcAft>
                <a:spcPts val="0"/>
              </a:spcAft>
              <a:buNone/>
            </a:pPr>
            <a:r>
              <a:rPr lang="en" sz="1800">
                <a:solidFill>
                  <a:srgbClr val="0F1114"/>
                </a:solidFill>
                <a:highlight>
                  <a:srgbClr val="FFFFFF"/>
                </a:highlight>
                <a:latin typeface="DM Sans"/>
                <a:ea typeface="DM Sans"/>
                <a:cs typeface="DM Sans"/>
                <a:sym typeface="DM Sans"/>
              </a:rPr>
              <a:t>Our number of conversions will be greater if we advertise more on Facebook in comparison to AdWords Ad.</a:t>
            </a:r>
            <a:endParaRPr sz="2400">
              <a:solidFill>
                <a:srgbClr val="0A004A"/>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Question and Hypothesis</a:t>
            </a:r>
            <a:endParaRPr sz="2800"/>
          </a:p>
        </p:txBody>
      </p:sp>
      <p:sp>
        <p:nvSpPr>
          <p:cNvPr id="152" name="Google Shape;152;p25"/>
          <p:cNvSpPr txBox="1"/>
          <p:nvPr>
            <p:ph idx="1" type="body"/>
          </p:nvPr>
        </p:nvSpPr>
        <p:spPr>
          <a:xfrm>
            <a:off x="311700" y="1152475"/>
            <a:ext cx="85206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highlight>
                  <a:srgbClr val="FFDE00"/>
                </a:highlight>
              </a:rPr>
              <a:t>The question you hope to answer and your hypothesized answer are necessary to complete  an analysis. Answer the following questions</a:t>
            </a:r>
            <a:endParaRPr sz="1600">
              <a:highlight>
                <a:srgbClr val="FFDE00"/>
              </a:highlight>
            </a:endParaRPr>
          </a:p>
        </p:txBody>
      </p:sp>
      <p:sp>
        <p:nvSpPr>
          <p:cNvPr id="153" name="Google Shape;153;p25"/>
          <p:cNvSpPr txBox="1"/>
          <p:nvPr/>
        </p:nvSpPr>
        <p:spPr>
          <a:xfrm>
            <a:off x="407581" y="1932775"/>
            <a:ext cx="74832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0A004A"/>
                </a:solidFill>
                <a:latin typeface="DM Sans"/>
                <a:ea typeface="DM Sans"/>
                <a:cs typeface="DM Sans"/>
                <a:sym typeface="DM Sans"/>
              </a:rPr>
              <a:t>What is your independent variable? </a:t>
            </a:r>
            <a:endParaRPr sz="2400">
              <a:solidFill>
                <a:srgbClr val="0A004A"/>
              </a:solidFill>
              <a:latin typeface="DM Sans"/>
              <a:ea typeface="DM Sans"/>
              <a:cs typeface="DM Sans"/>
              <a:sym typeface="DM Sans"/>
            </a:endParaRPr>
          </a:p>
          <a:p>
            <a:pPr indent="0" lvl="0" marL="0" rtl="0" algn="l">
              <a:spcBef>
                <a:spcPts val="0"/>
              </a:spcBef>
              <a:spcAft>
                <a:spcPts val="0"/>
              </a:spcAft>
              <a:buNone/>
            </a:pPr>
            <a:r>
              <a:rPr lang="en" sz="2400">
                <a:solidFill>
                  <a:srgbClr val="0A004A"/>
                </a:solidFill>
                <a:latin typeface="DM Sans"/>
                <a:ea typeface="DM Sans"/>
                <a:cs typeface="DM Sans"/>
                <a:sym typeface="DM Sans"/>
              </a:rPr>
              <a:t>Clicks</a:t>
            </a:r>
            <a:endParaRPr sz="2400">
              <a:solidFill>
                <a:srgbClr val="0A004A"/>
              </a:solidFill>
              <a:latin typeface="DM Sans"/>
              <a:ea typeface="DM Sans"/>
              <a:cs typeface="DM Sans"/>
              <a:sym typeface="DM Sans"/>
            </a:endParaRPr>
          </a:p>
        </p:txBody>
      </p:sp>
      <p:sp>
        <p:nvSpPr>
          <p:cNvPr id="154" name="Google Shape;154;p25"/>
          <p:cNvSpPr txBox="1"/>
          <p:nvPr/>
        </p:nvSpPr>
        <p:spPr>
          <a:xfrm>
            <a:off x="407581" y="2796310"/>
            <a:ext cx="74832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0A004A"/>
                </a:solidFill>
                <a:latin typeface="DM Sans"/>
                <a:ea typeface="DM Sans"/>
                <a:cs typeface="DM Sans"/>
                <a:sym typeface="DM Sans"/>
              </a:rPr>
              <a:t>What is your dependent variable? </a:t>
            </a:r>
            <a:endParaRPr sz="2400">
              <a:solidFill>
                <a:srgbClr val="0A004A"/>
              </a:solidFill>
              <a:latin typeface="DM Sans"/>
              <a:ea typeface="DM Sans"/>
              <a:cs typeface="DM Sans"/>
              <a:sym typeface="DM Sans"/>
            </a:endParaRPr>
          </a:p>
          <a:p>
            <a:pPr indent="0" lvl="0" marL="0" rtl="0" algn="l">
              <a:spcBef>
                <a:spcPts val="0"/>
              </a:spcBef>
              <a:spcAft>
                <a:spcPts val="0"/>
              </a:spcAft>
              <a:buNone/>
            </a:pPr>
            <a:r>
              <a:rPr lang="en" sz="2400">
                <a:solidFill>
                  <a:srgbClr val="0A004A"/>
                </a:solidFill>
                <a:latin typeface="DM Sans"/>
                <a:ea typeface="DM Sans"/>
                <a:cs typeface="DM Sans"/>
                <a:sym typeface="DM Sans"/>
              </a:rPr>
              <a:t>Conversions</a:t>
            </a:r>
            <a:endParaRPr sz="2400">
              <a:solidFill>
                <a:srgbClr val="0A004A"/>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Running a Test</a:t>
            </a:r>
            <a:endParaRPr sz="2800"/>
          </a:p>
        </p:txBody>
      </p:sp>
      <p:sp>
        <p:nvSpPr>
          <p:cNvPr id="160" name="Google Shape;160;p26"/>
          <p:cNvSpPr txBox="1"/>
          <p:nvPr>
            <p:ph idx="1" type="body"/>
          </p:nvPr>
        </p:nvSpPr>
        <p:spPr>
          <a:xfrm>
            <a:off x="311700" y="1152475"/>
            <a:ext cx="85206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highlight>
                  <a:srgbClr val="FFDE00"/>
                </a:highlight>
              </a:rPr>
              <a:t>With your question and hypothesis ready, run the test on the two sets of data. Fill in the information below.</a:t>
            </a:r>
            <a:endParaRPr sz="1600">
              <a:highlight>
                <a:srgbClr val="FFDE00"/>
              </a:highlight>
            </a:endParaRPr>
          </a:p>
        </p:txBody>
      </p:sp>
      <p:sp>
        <p:nvSpPr>
          <p:cNvPr id="161" name="Google Shape;161;p26"/>
          <p:cNvSpPr txBox="1"/>
          <p:nvPr/>
        </p:nvSpPr>
        <p:spPr>
          <a:xfrm>
            <a:off x="341978" y="1932775"/>
            <a:ext cx="734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0A004A"/>
                </a:solidFill>
                <a:latin typeface="DM Sans"/>
                <a:ea typeface="DM Sans"/>
                <a:cs typeface="DM Sans"/>
                <a:sym typeface="DM Sans"/>
              </a:rPr>
              <a:t>Mean number of Facebook conversions: </a:t>
            </a:r>
            <a:r>
              <a:rPr lang="en" sz="1800">
                <a:solidFill>
                  <a:schemeClr val="dk1"/>
                </a:solidFill>
                <a:latin typeface="DM Sans"/>
                <a:ea typeface="DM Sans"/>
                <a:cs typeface="DM Sans"/>
                <a:sym typeface="DM Sans"/>
              </a:rPr>
              <a:t>11.74246575</a:t>
            </a:r>
            <a:endParaRPr sz="3200">
              <a:solidFill>
                <a:srgbClr val="0A004A"/>
              </a:solidFill>
              <a:latin typeface="DM Sans"/>
              <a:ea typeface="DM Sans"/>
              <a:cs typeface="DM Sans"/>
              <a:sym typeface="DM Sans"/>
            </a:endParaRPr>
          </a:p>
        </p:txBody>
      </p:sp>
      <p:sp>
        <p:nvSpPr>
          <p:cNvPr id="162" name="Google Shape;162;p26"/>
          <p:cNvSpPr txBox="1"/>
          <p:nvPr/>
        </p:nvSpPr>
        <p:spPr>
          <a:xfrm>
            <a:off x="341978" y="3125850"/>
            <a:ext cx="734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0A004A"/>
                </a:solidFill>
                <a:latin typeface="DM Sans"/>
                <a:ea typeface="DM Sans"/>
                <a:cs typeface="DM Sans"/>
                <a:sym typeface="DM Sans"/>
              </a:rPr>
              <a:t>p-Value: 0  </a:t>
            </a:r>
            <a:endParaRPr sz="2400">
              <a:solidFill>
                <a:srgbClr val="0A004A"/>
              </a:solidFill>
              <a:latin typeface="DM Sans"/>
              <a:ea typeface="DM Sans"/>
              <a:cs typeface="DM Sans"/>
              <a:sym typeface="DM Sans"/>
            </a:endParaRPr>
          </a:p>
        </p:txBody>
      </p:sp>
      <p:sp>
        <p:nvSpPr>
          <p:cNvPr id="163" name="Google Shape;163;p26"/>
          <p:cNvSpPr txBox="1"/>
          <p:nvPr/>
        </p:nvSpPr>
        <p:spPr>
          <a:xfrm>
            <a:off x="341978" y="2571750"/>
            <a:ext cx="734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0A004A"/>
                </a:solidFill>
                <a:latin typeface="DM Sans"/>
                <a:ea typeface="DM Sans"/>
                <a:cs typeface="DM Sans"/>
                <a:sym typeface="DM Sans"/>
              </a:rPr>
              <a:t>Mean number of Adware conversions: </a:t>
            </a:r>
            <a:r>
              <a:rPr lang="en" sz="1800">
                <a:solidFill>
                  <a:schemeClr val="dk1"/>
                </a:solidFill>
                <a:latin typeface="DM Sans"/>
                <a:ea typeface="DM Sans"/>
                <a:cs typeface="DM Sans"/>
                <a:sym typeface="DM Sans"/>
              </a:rPr>
              <a:t>5.980821918</a:t>
            </a:r>
            <a:endParaRPr sz="3200">
              <a:solidFill>
                <a:srgbClr val="0A004A"/>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Hypothesis </a:t>
            </a:r>
            <a:endParaRPr sz="2800"/>
          </a:p>
        </p:txBody>
      </p:sp>
      <p:sp>
        <p:nvSpPr>
          <p:cNvPr id="169" name="Google Shape;169;p27"/>
          <p:cNvSpPr txBox="1"/>
          <p:nvPr>
            <p:ph idx="1" type="body"/>
          </p:nvPr>
        </p:nvSpPr>
        <p:spPr>
          <a:xfrm>
            <a:off x="311700" y="1152475"/>
            <a:ext cx="8520600" cy="4311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t>After running the test, was your hypothesis proven correct?</a:t>
            </a:r>
            <a:endParaRPr sz="1600"/>
          </a:p>
        </p:txBody>
      </p:sp>
      <p:sp>
        <p:nvSpPr>
          <p:cNvPr id="170" name="Google Shape;170;p27"/>
          <p:cNvSpPr txBox="1"/>
          <p:nvPr/>
        </p:nvSpPr>
        <p:spPr>
          <a:xfrm>
            <a:off x="311700" y="1494348"/>
            <a:ext cx="7344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A004A"/>
                </a:solidFill>
                <a:latin typeface="DM Sans"/>
                <a:ea typeface="DM Sans"/>
                <a:cs typeface="DM Sans"/>
                <a:sym typeface="DM Sans"/>
              </a:rPr>
              <a:t>Do your findings support a null or an alternative hypothesis</a:t>
            </a:r>
            <a:r>
              <a:rPr lang="en" sz="1800">
                <a:solidFill>
                  <a:srgbClr val="0A004A"/>
                </a:solidFill>
                <a:latin typeface="DM Sans"/>
                <a:ea typeface="DM Sans"/>
                <a:cs typeface="DM Sans"/>
                <a:sym typeface="DM Sans"/>
              </a:rPr>
              <a:t>? </a:t>
            </a:r>
            <a:endParaRPr sz="1800">
              <a:solidFill>
                <a:srgbClr val="0A004A"/>
              </a:solidFill>
              <a:latin typeface="DM Sans"/>
              <a:ea typeface="DM Sans"/>
              <a:cs typeface="DM Sans"/>
              <a:sym typeface="DM Sans"/>
            </a:endParaRPr>
          </a:p>
          <a:p>
            <a:pPr indent="0" lvl="0" marL="0" rtl="0" algn="l">
              <a:spcBef>
                <a:spcPts val="0"/>
              </a:spcBef>
              <a:spcAft>
                <a:spcPts val="0"/>
              </a:spcAft>
              <a:buNone/>
            </a:pPr>
            <a:r>
              <a:rPr lang="en" sz="1800">
                <a:solidFill>
                  <a:srgbClr val="0A004A"/>
                </a:solidFill>
                <a:latin typeface="DM Sans"/>
                <a:ea typeface="DM Sans"/>
                <a:cs typeface="DM Sans"/>
                <a:sym typeface="DM Sans"/>
              </a:rPr>
              <a:t>My findings support an alternative hypothesis.</a:t>
            </a:r>
            <a:endParaRPr sz="1800">
              <a:solidFill>
                <a:srgbClr val="0A004A"/>
              </a:solidFill>
              <a:latin typeface="DM Sans"/>
              <a:ea typeface="DM Sans"/>
              <a:cs typeface="DM Sans"/>
              <a:sym typeface="DM Sans"/>
            </a:endParaRPr>
          </a:p>
        </p:txBody>
      </p:sp>
      <p:sp>
        <p:nvSpPr>
          <p:cNvPr id="171" name="Google Shape;171;p27"/>
          <p:cNvSpPr txBox="1"/>
          <p:nvPr/>
        </p:nvSpPr>
        <p:spPr>
          <a:xfrm>
            <a:off x="311700" y="2394475"/>
            <a:ext cx="8484000" cy="2473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rgbClr val="0F1114"/>
                </a:solidFill>
                <a:highlight>
                  <a:srgbClr val="FFFFFF"/>
                </a:highlight>
                <a:latin typeface="DM Sans"/>
                <a:ea typeface="DM Sans"/>
                <a:cs typeface="DM Sans"/>
                <a:sym typeface="DM Sans"/>
              </a:rPr>
              <a:t>T-test formula gives a </a:t>
            </a:r>
            <a:r>
              <a:rPr i="1" lang="en" sz="1800">
                <a:solidFill>
                  <a:srgbClr val="0F1114"/>
                </a:solidFill>
                <a:highlight>
                  <a:srgbClr val="FFFFFF"/>
                </a:highlight>
                <a:latin typeface="DM Sans"/>
                <a:ea typeface="DM Sans"/>
                <a:cs typeface="DM Sans"/>
                <a:sym typeface="DM Sans"/>
              </a:rPr>
              <a:t>p-value that is less than </a:t>
            </a:r>
            <a:r>
              <a:rPr lang="en" sz="1800">
                <a:solidFill>
                  <a:srgbClr val="0F1114"/>
                </a:solidFill>
                <a:highlight>
                  <a:srgbClr val="FFFFFF"/>
                </a:highlight>
                <a:latin typeface="DM Sans"/>
                <a:ea typeface="DM Sans"/>
                <a:cs typeface="DM Sans"/>
                <a:sym typeface="DM Sans"/>
              </a:rPr>
              <a:t>𝛂(0.05), that means the difference between “Facebook Ad Conversions” and “AdWords Ad Conversions” is </a:t>
            </a:r>
            <a:r>
              <a:rPr i="1" lang="en" sz="1800">
                <a:solidFill>
                  <a:srgbClr val="0F1114"/>
                </a:solidFill>
                <a:highlight>
                  <a:srgbClr val="FFFFFF"/>
                </a:highlight>
                <a:latin typeface="DM Sans"/>
                <a:ea typeface="DM Sans"/>
                <a:cs typeface="DM Sans"/>
                <a:sym typeface="DM Sans"/>
              </a:rPr>
              <a:t>a statistically significant difference</a:t>
            </a:r>
            <a:r>
              <a:rPr lang="en" sz="1800">
                <a:solidFill>
                  <a:srgbClr val="0F1114"/>
                </a:solidFill>
                <a:highlight>
                  <a:srgbClr val="FFFFFF"/>
                </a:highlight>
                <a:latin typeface="DM Sans"/>
                <a:ea typeface="DM Sans"/>
                <a:cs typeface="DM Sans"/>
                <a:sym typeface="DM Sans"/>
              </a:rPr>
              <a:t>. It proves that alternative hypothesis(H1) should be accepted. This answers resonates with our hypothesis that “</a:t>
            </a:r>
            <a:r>
              <a:rPr i="1" lang="en" sz="1800">
                <a:solidFill>
                  <a:srgbClr val="0F1114"/>
                </a:solidFill>
                <a:highlight>
                  <a:srgbClr val="FFFFFF"/>
                </a:highlight>
                <a:latin typeface="DM Sans"/>
                <a:ea typeface="DM Sans"/>
                <a:cs typeface="DM Sans"/>
                <a:sym typeface="DM Sans"/>
              </a:rPr>
              <a:t>Our number of conversions</a:t>
            </a:r>
            <a:r>
              <a:rPr lang="en" sz="1800">
                <a:solidFill>
                  <a:srgbClr val="0F1114"/>
                </a:solidFill>
                <a:highlight>
                  <a:srgbClr val="FFFFFF"/>
                </a:highlight>
                <a:latin typeface="DM Sans"/>
                <a:ea typeface="DM Sans"/>
                <a:cs typeface="DM Sans"/>
                <a:sym typeface="DM Sans"/>
              </a:rPr>
              <a:t> will </a:t>
            </a:r>
            <a:r>
              <a:rPr i="1" lang="en" sz="1800">
                <a:solidFill>
                  <a:srgbClr val="0F1114"/>
                </a:solidFill>
                <a:highlight>
                  <a:srgbClr val="FFFFFF"/>
                </a:highlight>
                <a:latin typeface="DM Sans"/>
                <a:ea typeface="DM Sans"/>
                <a:cs typeface="DM Sans"/>
                <a:sym typeface="DM Sans"/>
              </a:rPr>
              <a:t>be greater</a:t>
            </a:r>
            <a:r>
              <a:rPr lang="en" sz="1800">
                <a:solidFill>
                  <a:srgbClr val="0F1114"/>
                </a:solidFill>
                <a:highlight>
                  <a:srgbClr val="FFFFFF"/>
                </a:highlight>
                <a:latin typeface="DM Sans"/>
                <a:ea typeface="DM Sans"/>
                <a:cs typeface="DM Sans"/>
                <a:sym typeface="DM Sans"/>
              </a:rPr>
              <a:t> if we </a:t>
            </a:r>
            <a:r>
              <a:rPr i="1" lang="en" sz="1800">
                <a:solidFill>
                  <a:srgbClr val="0F1114"/>
                </a:solidFill>
                <a:highlight>
                  <a:srgbClr val="FFFFFF"/>
                </a:highlight>
                <a:latin typeface="DM Sans"/>
                <a:ea typeface="DM Sans"/>
                <a:cs typeface="DM Sans"/>
                <a:sym typeface="DM Sans"/>
              </a:rPr>
              <a:t>advertise on </a:t>
            </a:r>
            <a:r>
              <a:rPr lang="en" sz="1800">
                <a:solidFill>
                  <a:srgbClr val="0F1114"/>
                </a:solidFill>
                <a:highlight>
                  <a:srgbClr val="FFFFFF"/>
                </a:highlight>
                <a:latin typeface="DM Sans"/>
                <a:ea typeface="DM Sans"/>
                <a:cs typeface="DM Sans"/>
                <a:sym typeface="DM Sans"/>
              </a:rPr>
              <a:t>Facebook Ads</a:t>
            </a:r>
            <a:r>
              <a:rPr i="1" lang="en" sz="1800">
                <a:solidFill>
                  <a:srgbClr val="0F1114"/>
                </a:solidFill>
                <a:highlight>
                  <a:srgbClr val="FFFFFF"/>
                </a:highlight>
                <a:latin typeface="DM Sans"/>
                <a:ea typeface="DM Sans"/>
                <a:cs typeface="DM Sans"/>
                <a:sym typeface="DM Sans"/>
              </a:rPr>
              <a:t> </a:t>
            </a:r>
            <a:r>
              <a:rPr lang="en" sz="1800">
                <a:solidFill>
                  <a:srgbClr val="0F1114"/>
                </a:solidFill>
                <a:highlight>
                  <a:srgbClr val="FFFFFF"/>
                </a:highlight>
                <a:latin typeface="DM Sans"/>
                <a:ea typeface="DM Sans"/>
                <a:cs typeface="DM Sans"/>
                <a:sym typeface="DM Sans"/>
              </a:rPr>
              <a:t>rather than AdWords Ads.”</a:t>
            </a:r>
            <a:endParaRPr sz="2400">
              <a:solidFill>
                <a:srgbClr val="0A004A"/>
              </a:solidFill>
              <a:latin typeface="DM Sans"/>
              <a:ea typeface="DM Sans"/>
              <a:cs typeface="DM Sans"/>
              <a:sym typeface="DM Sans"/>
            </a:endParaRPr>
          </a:p>
          <a:p>
            <a:pPr indent="0" lvl="0" marL="0" rtl="0" algn="l">
              <a:spcBef>
                <a:spcPts val="0"/>
              </a:spcBef>
              <a:spcAft>
                <a:spcPts val="0"/>
              </a:spcAft>
              <a:buNone/>
            </a:pPr>
            <a:r>
              <a:t/>
            </a:r>
            <a:endParaRPr sz="1800">
              <a:solidFill>
                <a:srgbClr val="0F1114"/>
              </a:solidFill>
              <a:highlight>
                <a:srgbClr val="FFFFFF"/>
              </a:highlight>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End of Module 3</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Determining a Model</a:t>
            </a:r>
            <a:endParaRPr sz="2800"/>
          </a:p>
        </p:txBody>
      </p:sp>
      <p:sp>
        <p:nvSpPr>
          <p:cNvPr id="182" name="Google Shape;182;p29"/>
          <p:cNvSpPr txBox="1"/>
          <p:nvPr>
            <p:ph idx="1" type="body"/>
          </p:nvPr>
        </p:nvSpPr>
        <p:spPr>
          <a:xfrm>
            <a:off x="311700" y="1152475"/>
            <a:ext cx="85206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t>Based off what you know so far, you’ll need to determine if your data meets the assumptions for a chosen model. Including:</a:t>
            </a:r>
            <a:endParaRPr sz="1600"/>
          </a:p>
        </p:txBody>
      </p:sp>
      <p:sp>
        <p:nvSpPr>
          <p:cNvPr descr="Answer question, &quot;Which model makes the most sense to use and why?&quot;" id="183" name="Google Shape;183;p29"/>
          <p:cNvSpPr txBox="1"/>
          <p:nvPr/>
        </p:nvSpPr>
        <p:spPr>
          <a:xfrm>
            <a:off x="311700" y="1866775"/>
            <a:ext cx="8110800" cy="2886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rgbClr val="0A004A"/>
                </a:solidFill>
                <a:latin typeface="DM Sans"/>
                <a:ea typeface="DM Sans"/>
                <a:cs typeface="DM Sans"/>
                <a:sym typeface="DM Sans"/>
              </a:rPr>
              <a:t>Which model makes the most sense to use and why</a:t>
            </a:r>
            <a:r>
              <a:rPr lang="en" sz="1800">
                <a:solidFill>
                  <a:srgbClr val="0A004A"/>
                </a:solidFill>
                <a:latin typeface="DM Sans"/>
                <a:ea typeface="DM Sans"/>
                <a:cs typeface="DM Sans"/>
                <a:sym typeface="DM Sans"/>
              </a:rPr>
              <a:t>?</a:t>
            </a:r>
            <a:endParaRPr sz="1800">
              <a:solidFill>
                <a:srgbClr val="0A004A"/>
              </a:solidFill>
              <a:latin typeface="DM Sans"/>
              <a:ea typeface="DM Sans"/>
              <a:cs typeface="DM Sans"/>
              <a:sym typeface="DM Sans"/>
            </a:endParaRPr>
          </a:p>
          <a:p>
            <a:pPr indent="0" lvl="0" marL="0" rtl="0" algn="l">
              <a:spcBef>
                <a:spcPts val="0"/>
              </a:spcBef>
              <a:spcAft>
                <a:spcPts val="0"/>
              </a:spcAft>
              <a:buNone/>
            </a:pPr>
            <a:r>
              <a:rPr lang="en" sz="1800">
                <a:solidFill>
                  <a:srgbClr val="0A004A"/>
                </a:solidFill>
                <a:latin typeface="DM Sans"/>
                <a:ea typeface="DM Sans"/>
                <a:cs typeface="DM Sans"/>
                <a:sym typeface="DM Sans"/>
              </a:rPr>
              <a:t>Since the </a:t>
            </a:r>
            <a:r>
              <a:rPr lang="en" sz="1800">
                <a:solidFill>
                  <a:srgbClr val="0A004A"/>
                </a:solidFill>
                <a:latin typeface="DM Sans"/>
                <a:ea typeface="DM Sans"/>
                <a:cs typeface="DM Sans"/>
                <a:sym typeface="DM Sans"/>
              </a:rPr>
              <a:t>independent</a:t>
            </a:r>
            <a:r>
              <a:rPr lang="en" sz="1800">
                <a:solidFill>
                  <a:srgbClr val="0A004A"/>
                </a:solidFill>
                <a:latin typeface="DM Sans"/>
                <a:ea typeface="DM Sans"/>
                <a:cs typeface="DM Sans"/>
                <a:sym typeface="DM Sans"/>
              </a:rPr>
              <a:t> variable i.e ‘Facebook Ad clicks’ is Quantitative and the dependant variable i.e ‘Facebook Ad conversions’ is also </a:t>
            </a:r>
            <a:r>
              <a:rPr lang="en" sz="1800">
                <a:solidFill>
                  <a:srgbClr val="0A004A"/>
                </a:solidFill>
                <a:latin typeface="DM Sans"/>
                <a:ea typeface="DM Sans"/>
                <a:cs typeface="DM Sans"/>
                <a:sym typeface="DM Sans"/>
              </a:rPr>
              <a:t>Quantitative. Therefore the use of </a:t>
            </a:r>
            <a:r>
              <a:rPr lang="en" sz="1800" u="sng">
                <a:solidFill>
                  <a:srgbClr val="0A004A"/>
                </a:solidFill>
                <a:latin typeface="DM Sans"/>
                <a:ea typeface="DM Sans"/>
                <a:cs typeface="DM Sans"/>
                <a:sym typeface="DM Sans"/>
              </a:rPr>
              <a:t>Simple Regression Model</a:t>
            </a:r>
            <a:r>
              <a:rPr lang="en" sz="1800">
                <a:solidFill>
                  <a:srgbClr val="0A004A"/>
                </a:solidFill>
                <a:latin typeface="DM Sans"/>
                <a:ea typeface="DM Sans"/>
                <a:cs typeface="DM Sans"/>
                <a:sym typeface="DM Sans"/>
              </a:rPr>
              <a:t> is the most suitable to make predictions.</a:t>
            </a:r>
            <a:endParaRPr sz="1800">
              <a:solidFill>
                <a:srgbClr val="0A004A"/>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Modeling</a:t>
            </a:r>
            <a:endParaRPr sz="2800"/>
          </a:p>
        </p:txBody>
      </p:sp>
      <p:sp>
        <p:nvSpPr>
          <p:cNvPr id="189" name="Google Shape;189;p30"/>
          <p:cNvSpPr txBox="1"/>
          <p:nvPr>
            <p:ph idx="1" type="body"/>
          </p:nvPr>
        </p:nvSpPr>
        <p:spPr>
          <a:xfrm>
            <a:off x="311700" y="1152475"/>
            <a:ext cx="8520600" cy="4311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t>Finally, include a visualization of your complete model. </a:t>
            </a:r>
            <a:endParaRPr sz="1600"/>
          </a:p>
        </p:txBody>
      </p:sp>
      <p:pic>
        <p:nvPicPr>
          <p:cNvPr id="190" name="Google Shape;190;p30" title="Screenshot 2025-11-12 153255.png"/>
          <p:cNvPicPr preferRelativeResize="0"/>
          <p:nvPr/>
        </p:nvPicPr>
        <p:blipFill>
          <a:blip r:embed="rId3">
            <a:alphaModFix/>
          </a:blip>
          <a:stretch>
            <a:fillRect/>
          </a:stretch>
        </p:blipFill>
        <p:spPr>
          <a:xfrm>
            <a:off x="2812600" y="1659325"/>
            <a:ext cx="3518809" cy="32551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End of Module 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Final Insights</a:t>
            </a:r>
            <a:endParaRPr sz="2800"/>
          </a:p>
        </p:txBody>
      </p:sp>
      <p:sp>
        <p:nvSpPr>
          <p:cNvPr id="201" name="Google Shape;201;p32"/>
          <p:cNvSpPr txBox="1"/>
          <p:nvPr>
            <p:ph idx="1" type="body"/>
          </p:nvPr>
        </p:nvSpPr>
        <p:spPr>
          <a:xfrm>
            <a:off x="311700" y="1152475"/>
            <a:ext cx="85206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600"/>
              <a:t>Now, knowing what you do about the </a:t>
            </a:r>
            <a:r>
              <a:rPr lang="en" sz="1600"/>
              <a:t>results of your test, what are the final insights that you would share with your client? What did you learn and what would you recommend? Is there anything you would do differently next time?</a:t>
            </a:r>
            <a:endParaRPr sz="1600"/>
          </a:p>
        </p:txBody>
      </p:sp>
      <p:sp>
        <p:nvSpPr>
          <p:cNvPr descr="Enter your insights here&#10;" id="202" name="Google Shape;202;p32"/>
          <p:cNvSpPr txBox="1"/>
          <p:nvPr/>
        </p:nvSpPr>
        <p:spPr>
          <a:xfrm>
            <a:off x="311700" y="2149975"/>
            <a:ext cx="8520600" cy="2770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0" lvl="0" marL="0" rtl="0" algn="l">
              <a:lnSpc>
                <a:spcPct val="115000"/>
              </a:lnSpc>
              <a:spcBef>
                <a:spcPts val="1800"/>
              </a:spcBef>
              <a:spcAft>
                <a:spcPts val="0"/>
              </a:spcAft>
              <a:buClr>
                <a:schemeClr val="dk1"/>
              </a:buClr>
              <a:buSzPct val="73333"/>
              <a:buFont typeface="Arial"/>
              <a:buNone/>
            </a:pPr>
            <a:r>
              <a:rPr lang="en" sz="1500">
                <a:solidFill>
                  <a:schemeClr val="dk1"/>
                </a:solidFill>
                <a:latin typeface="DM Sans"/>
                <a:ea typeface="DM Sans"/>
                <a:cs typeface="DM Sans"/>
                <a:sym typeface="DM Sans"/>
              </a:rPr>
              <a:t>Key Insights</a:t>
            </a:r>
            <a:endParaRPr sz="1500">
              <a:solidFill>
                <a:schemeClr val="dk1"/>
              </a:solidFill>
              <a:latin typeface="DM Sans"/>
              <a:ea typeface="DM Sans"/>
              <a:cs typeface="DM Sans"/>
              <a:sym typeface="DM Sans"/>
            </a:endParaRPr>
          </a:p>
          <a:p>
            <a:pPr indent="-310832" lvl="0" marL="457200" rtl="0" algn="l">
              <a:lnSpc>
                <a:spcPct val="115000"/>
              </a:lnSpc>
              <a:spcBef>
                <a:spcPts val="400"/>
              </a:spcBef>
              <a:spcAft>
                <a:spcPts val="0"/>
              </a:spcAft>
              <a:buClr>
                <a:schemeClr val="dk1"/>
              </a:buClr>
              <a:buSzPct val="100000"/>
              <a:buFont typeface="DM Sans"/>
              <a:buChar char="●"/>
            </a:pPr>
            <a:r>
              <a:rPr lang="en">
                <a:solidFill>
                  <a:schemeClr val="dk1"/>
                </a:solidFill>
                <a:latin typeface="DM Sans"/>
                <a:ea typeface="DM Sans"/>
                <a:cs typeface="DM Sans"/>
                <a:sym typeface="DM Sans"/>
              </a:rPr>
              <a:t>The regression equation—Facebook Ad Conversions = 0.210501 × Facebook Ad Clicks + 2.47002—indicates that for every additional click on a Facebook ad, average conversions increase by about 0.21.</a:t>
            </a:r>
            <a:endParaRPr>
              <a:solidFill>
                <a:schemeClr val="dk1"/>
              </a:solidFill>
              <a:latin typeface="DM Sans"/>
              <a:ea typeface="DM Sans"/>
              <a:cs typeface="DM Sans"/>
              <a:sym typeface="DM Sans"/>
            </a:endParaRPr>
          </a:p>
          <a:p>
            <a:pPr indent="-310832" lvl="0" marL="457200" rtl="0" algn="l">
              <a:lnSpc>
                <a:spcPct val="115000"/>
              </a:lnSpc>
              <a:spcBef>
                <a:spcPts val="0"/>
              </a:spcBef>
              <a:spcAft>
                <a:spcPts val="0"/>
              </a:spcAft>
              <a:buClr>
                <a:schemeClr val="dk1"/>
              </a:buClr>
              <a:buSzPct val="100000"/>
              <a:buFont typeface="DM Sans"/>
              <a:buChar char="●"/>
            </a:pPr>
            <a:r>
              <a:rPr lang="en">
                <a:solidFill>
                  <a:schemeClr val="dk1"/>
                </a:solidFill>
                <a:latin typeface="DM Sans"/>
                <a:ea typeface="DM Sans"/>
                <a:cs typeface="DM Sans"/>
                <a:sym typeface="DM Sans"/>
              </a:rPr>
              <a:t>An R-squared value of </a:t>
            </a:r>
            <a:r>
              <a:rPr b="1" lang="en">
                <a:solidFill>
                  <a:schemeClr val="dk1"/>
                </a:solidFill>
                <a:latin typeface="DM Sans"/>
                <a:ea typeface="DM Sans"/>
                <a:cs typeface="DM Sans"/>
                <a:sym typeface="DM Sans"/>
              </a:rPr>
              <a:t>0.76</a:t>
            </a:r>
            <a:r>
              <a:rPr lang="en">
                <a:solidFill>
                  <a:schemeClr val="dk1"/>
                </a:solidFill>
                <a:latin typeface="DM Sans"/>
                <a:ea typeface="DM Sans"/>
                <a:cs typeface="DM Sans"/>
                <a:sym typeface="DM Sans"/>
              </a:rPr>
              <a:t> signifies that </a:t>
            </a:r>
            <a:r>
              <a:rPr b="1" lang="en">
                <a:solidFill>
                  <a:schemeClr val="dk1"/>
                </a:solidFill>
                <a:latin typeface="DM Sans"/>
                <a:ea typeface="DM Sans"/>
                <a:cs typeface="DM Sans"/>
                <a:sym typeface="DM Sans"/>
              </a:rPr>
              <a:t>76%</a:t>
            </a:r>
            <a:r>
              <a:rPr lang="en">
                <a:solidFill>
                  <a:schemeClr val="dk1"/>
                </a:solidFill>
                <a:latin typeface="DM Sans"/>
                <a:ea typeface="DM Sans"/>
                <a:cs typeface="DM Sans"/>
                <a:sym typeface="DM Sans"/>
              </a:rPr>
              <a:t> of the variation in conversions can be explained by clicks, highlighting a robust relationship.</a:t>
            </a:r>
            <a:endParaRPr>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n">
                <a:solidFill>
                  <a:schemeClr val="dk1"/>
                </a:solidFill>
                <a:latin typeface="DM Sans"/>
                <a:ea typeface="DM Sans"/>
                <a:cs typeface="DM Sans"/>
                <a:sym typeface="DM Sans"/>
              </a:rPr>
              <a:t>Based on these findings, it is recommended to continue or increase investment in Facebook advertising and use this model to guide budget and campaign planning. For even better results, future analyses could include additional variables such as creative type or audience segments to refine predictions and optimize ad performance. Overall, these insights provide clear evidence that Facebook ad clicks are delivering substantial value for driving conversions.</a:t>
            </a:r>
            <a:endParaRPr>
              <a:solidFill>
                <a:schemeClr val="dk1"/>
              </a:solidFill>
              <a:latin typeface="DM Sans"/>
              <a:ea typeface="DM Sans"/>
              <a:cs typeface="DM Sans"/>
              <a:sym typeface="DM Sans"/>
            </a:endParaRPr>
          </a:p>
          <a:p>
            <a:pPr indent="0" lvl="0" marL="0" rtl="0" algn="l">
              <a:spcBef>
                <a:spcPts val="0"/>
              </a:spcBef>
              <a:spcAft>
                <a:spcPts val="0"/>
              </a:spcAft>
              <a:buNone/>
            </a:pPr>
            <a:r>
              <a:t/>
            </a:r>
            <a:endParaRPr>
              <a:solidFill>
                <a:srgbClr val="0A004A"/>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